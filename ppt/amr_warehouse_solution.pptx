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05804b8f754be9" /><Relationship Type="http://schemas.openxmlformats.org/officeDocument/2006/relationships/extended-properties" Target="/docProps/app.xml" Id="Rf779c3f215344cbe" /><Relationship Type="http://schemas.openxmlformats.org/officeDocument/2006/relationships/officeDocument" Target="/ppt/presentation.xml" Id="R61a83286d6ee4c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028ee3ac594950"/>
  </p:sldMasterIdLst>
  <p:notesMasterIdLst>
    <p:notesMasterId xmlns:r="http://schemas.openxmlformats.org/officeDocument/2006/relationships" r:id="R4f7da32ca569453f"/>
  </p:notesMasterIdLst>
  <p:sldIdLst>
    <p:sldId xmlns:r="http://schemas.openxmlformats.org/officeDocument/2006/relationships" id="256" r:id="R8ba6e4c842f54667"/>
    <p:sldId xmlns:r="http://schemas.openxmlformats.org/officeDocument/2006/relationships" id="257" r:id="R9553beb75739429c"/>
    <p:sldId xmlns:r="http://schemas.openxmlformats.org/officeDocument/2006/relationships" id="258" r:id="Rbbd9fe3831164191"/>
    <p:sldId xmlns:r="http://schemas.openxmlformats.org/officeDocument/2006/relationships" id="259" r:id="R463afec9f11a4c7c"/>
    <p:sldId xmlns:r="http://schemas.openxmlformats.org/officeDocument/2006/relationships" id="260" r:id="Rb80d39d0b4324df5"/>
    <p:sldId xmlns:r="http://schemas.openxmlformats.org/officeDocument/2006/relationships" id="261" r:id="Raac391f98d734b05"/>
    <p:sldId xmlns:r="http://schemas.openxmlformats.org/officeDocument/2006/relationships" id="262" r:id="R56dfa6355a7f49d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8a023b5d064f67" /><Relationship Type="http://schemas.openxmlformats.org/officeDocument/2006/relationships/slideMaster" Target="/ppt/slideMasters/slideMaster1.xml" Id="Ra4028ee3ac594950" /><Relationship Type="http://schemas.openxmlformats.org/officeDocument/2006/relationships/notesMaster" Target="/ppt/notesMasters/notesMaster1.xml" Id="R4f7da32ca569453f" /><Relationship Type="http://schemas.openxmlformats.org/officeDocument/2006/relationships/presProps" Target="/ppt/presProps.xml" Id="R64d0569a602447fd" /><Relationship Type="http://schemas.openxmlformats.org/officeDocument/2006/relationships/tableStyles" Target="/ppt/tableStyles.xml" Id="R56c5a05e234a4ee5" /><Relationship Type="http://schemas.openxmlformats.org/officeDocument/2006/relationships/slide" Target="/ppt/slides/slide1.xml" Id="R8ba6e4c842f54667" /><Relationship Type="http://schemas.openxmlformats.org/officeDocument/2006/relationships/slide" Target="/ppt/slides/slide2.xml" Id="R9553beb75739429c" /><Relationship Type="http://schemas.openxmlformats.org/officeDocument/2006/relationships/slide" Target="/ppt/slides/slide3.xml" Id="Rbbd9fe3831164191" /><Relationship Type="http://schemas.openxmlformats.org/officeDocument/2006/relationships/slide" Target="/ppt/slides/slide4.xml" Id="R463afec9f11a4c7c" /><Relationship Type="http://schemas.openxmlformats.org/officeDocument/2006/relationships/slide" Target="/ppt/slides/slide5.xml" Id="Rb80d39d0b4324df5" /><Relationship Type="http://schemas.openxmlformats.org/officeDocument/2006/relationships/slide" Target="/ppt/slides/slide6.xml" Id="Raac391f98d734b05" /><Relationship Type="http://schemas.openxmlformats.org/officeDocument/2006/relationships/slide" Target="/ppt/slides/slide7.xml" Id="R56dfa6355a7f49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e124470a674e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4f44e5193c4a7c" /><Relationship Type="http://schemas.openxmlformats.org/officeDocument/2006/relationships/notesMaster" Target="/ppt/notesMasters/notesMaster1.xml" Id="R83a67143032e46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9ce26df10e4fdb" /><Relationship Type="http://schemas.openxmlformats.org/officeDocument/2006/relationships/notesMaster" Target="/ppt/notesMasters/notesMaster1.xml" Id="R7286504ec62d46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44012a04e04e69" /><Relationship Type="http://schemas.openxmlformats.org/officeDocument/2006/relationships/notesMaster" Target="/ppt/notesMasters/notesMaster1.xml" Id="R8a2565f203bb463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37e70645724652" /><Relationship Type="http://schemas.openxmlformats.org/officeDocument/2006/relationships/notesMaster" Target="/ppt/notesMasters/notesMaster1.xml" Id="Rf597fe20f31a47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0c1336f08b4796" /><Relationship Type="http://schemas.openxmlformats.org/officeDocument/2006/relationships/notesMaster" Target="/ppt/notesMasters/notesMaster1.xml" Id="Rb5da0e6849b744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cefa0b54304ef0" /><Relationship Type="http://schemas.openxmlformats.org/officeDocument/2006/relationships/notesMaster" Target="/ppt/notesMasters/notesMaster1.xml" Id="Re597e88dfefa4f1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05195339be4281" /><Relationship Type="http://schemas.openxmlformats.org/officeDocument/2006/relationships/notesMaster" Target="/ppt/notesMasters/notesMaster1.xml" Id="Rc967438851f145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本案例为个人方案设计，所有数值均为设计输入，不代表真实客户或现场测试结果。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输入值为课题设计条件。真实项目应通过称重、CAD 平面图、WMS 日志、现场计时和设备手册取得。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方案取舍基于课题假设，非供应商选型或采购结论。参考：OMRON 移动机器人安全说明 https://automation.omron.com/en/us/blog/mobile-robot-safety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计算取值均为课题输入。70% 可用系数用于充电、维护与波动；60 秒余量用于单次交通和定位。不得把测算写成实际效率提升。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逻辑握手，不是 PLC 点位表或可施工图纸。参考：OMRON 车队管理资料 https://robotics.omron.com/wp-content/uploads/2025/06/Fleet_Operations_Workspace_Core_Brochure_OMRON_EN.pdf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异常表是设计草案，未经现场联调。安全策略需由设备和现场安全评估确定。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测试用例是验收计划，不是已通过的测试。项目资料和测算详见 GitHub case_study.md。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640d052dc14a7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154ee22fdc44be7" /><Relationship Type="http://schemas.openxmlformats.org/officeDocument/2006/relationships/slideLayout" Target="/ppt/slideLayouts/slideLayout1.xml" Id="R6ad389bd09d748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d389bd09d748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36e22dae94c06" /><Relationship Type="http://schemas.openxmlformats.org/officeDocument/2006/relationships/notesSlide" Target="/ppt/notesSlides/notesSlide1.xml" Id="R8ef8c64adb014a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5a127f19c4187" /><Relationship Type="http://schemas.openxmlformats.org/officeDocument/2006/relationships/notesSlide" Target="/ppt/notesSlides/notesSlide2.xml" Id="Rd367d2b86aee4e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d2e3699d047e0" /><Relationship Type="http://schemas.openxmlformats.org/officeDocument/2006/relationships/notesSlide" Target="/ppt/notesSlides/notesSlide3.xml" Id="Ra33bd6b28fb240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eb33cc3a64593" /><Relationship Type="http://schemas.openxmlformats.org/officeDocument/2006/relationships/notesSlide" Target="/ppt/notesSlides/notesSlide4.xml" Id="Re715232d840949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7aca01ba604a2a" /><Relationship Type="http://schemas.openxmlformats.org/officeDocument/2006/relationships/notesSlide" Target="/ppt/notesSlides/notesSlide5.xml" Id="Rbef49afa371f4f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5204fc67474ca3" /><Relationship Type="http://schemas.openxmlformats.org/officeDocument/2006/relationships/notesSlide" Target="/ppt/notesSlides/notesSlide6.xml" Id="Re258d9296c924c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5e573ea0894720" /><Relationship Type="http://schemas.openxmlformats.org/officeDocument/2006/relationships/notesSlide" Target="/ppt/notesSlides/notesSlide7.xml" Id="R85517a01b61243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46FA5-4344-4B24-946B-8DDE0DCC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4775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69"/>
          </a:solidFill>
          <a:ln xmlns:a="http://schemas.openxmlformats.org/drawingml/2006/main" w="9525">
            <a:solidFill>
              <a:srgbClr val="176B6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FDC1E7-5AA7-485A-BA09-BDF87128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952500"/>
            <a:ext cx="8858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1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仓储 AMR 补货搬运</a:t>
            </a:r>
          </a:p>
          <a:p xmlns:a="http://schemas.openxmlformats.org/drawingml/2006/main">
            <a:pPr>
              <a:defRPr sz="41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1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方案设计案例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993CE-C0BD-4DD7-BF00-95BAE7A2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952750"/>
            <a:ext cx="923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存储区取箱 → AMR 搬运 → 拣选区输送线接箱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8F72F-5CA9-4DD1-8511-A1AE98D2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857625"/>
            <a:ext cx="8858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个人专题项目 | 方案测算与验证设计 | 未现场部署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D8CC3-FF2C-4B4D-B99D-3B0F07F5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98157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研究问题：适不适合用 AMR？需要多少车？交接失败怎么办？</a:t>
            </a:r>
          </a:p>
        </p:txBody>
      </p:sp>
    </p:spTree>
    <p:extLst>
      <p:ext uri="{BB962C8B-B14F-4D97-AF65-F5344CB8AC3E}">
        <p14:creationId xmlns:p14="http://schemas.microsoft.com/office/powerpoint/2010/main" val="17196489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FF0CF7-245F-4004-9BC6-810A6693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9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69"/>
          </a:solidFill>
          <a:ln xmlns:a="http://schemas.openxmlformats.org/drawingml/2006/main" w="9525">
            <a:solidFill>
              <a:srgbClr val="176B6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1FE271-1790-421F-82E8-D93079D90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场景与设计输入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0B5B8-97AF-4E07-95D3-73147C4E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14425"/>
            <a:ext cx="1095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EADCE-E272-4412-9C09-99DCEE6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771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个人方案设计案例 | 数值均为课题设计输入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A3CCC-A80D-48DE-A5E7-47224AD1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0503D-9355-420C-BC85-C837597E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A 存储区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0EED0-47EB-492A-864E-364CAAFB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6954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B 拣选区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184D2-0EE2-4823-A6FD-0D2F87CF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2476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C0B1CD-66C1-427E-A738-A1BA6EE8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7175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人员装箱</a:t>
            </a:r>
          </a:p>
          <a:p xmlns:a="http://schemas.openxmlformats.org/drawingml/2006/main">
            <a:pPr>
              <a:def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扫码绑定料箱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6D29F5-FC53-4F51-88F7-8D455747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14600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672B0-9D63-4FB9-BB75-83DD522F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860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AMR 搬运</a:t>
            </a:r>
          </a:p>
          <a:p xmlns:a="http://schemas.openxmlformats.org/drawingml/2006/main">
            <a:pPr>
              <a:def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满载去 / 空车回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7BF7CC-1D58-4509-89F5-E81B12E3F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43150"/>
            <a:ext cx="2476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637997-CB45-4D35-8F37-FEAF1F58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7175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输送线接箱</a:t>
            </a:r>
          </a:p>
          <a:p xmlns:a="http://schemas.openxmlformats.org/drawingml/2006/main">
            <a:pPr>
              <a:def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PLC 判断是否就绪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AF086F-EEF5-4767-80E1-4F92D974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86050"/>
            <a:ext cx="714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304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793787-BDC8-4672-B4AF-B2D46CBE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686050"/>
            <a:ext cx="714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304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24F596-8B5F-4713-9E78-F85F9C70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52925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输入：10 kg/箱 | 单程 80 m | 高峰 18 箱/小时 | 持续 2 小时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FFBE9-A1BE-4851-AD91-674FB3FD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以上为课题设定；通道、任务日志、网络和设备参数需要现场核实。</a:t>
            </a:r>
          </a:p>
        </p:txBody>
      </p:sp>
    </p:spTree>
    <p:extLst>
      <p:ext uri="{BB962C8B-B14F-4D97-AF65-F5344CB8AC3E}">
        <p14:creationId xmlns:p14="http://schemas.microsoft.com/office/powerpoint/2010/main" val="11317510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A3BAB1-4529-41BC-A3BE-CA1791C5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9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69"/>
          </a:solidFill>
          <a:ln xmlns:a="http://schemas.openxmlformats.org/drawingml/2006/main" w="9525">
            <a:solidFill>
              <a:srgbClr val="176B6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D03F4-9D58-4B2D-BCDB-D0F43A2D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方案取舍：AMR 是候选方案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06CE8-3A5B-4F8F-891F-82330D8B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14425"/>
            <a:ext cx="1095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F88855-61A1-406C-B1AE-F3B1F4FB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771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个人方案设计案例 | 数值均为课题设计输入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9DD80-0AC0-4FFF-8C20-31C8A42E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4D4A4B-FF1F-42D6-B593-18E09F11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08FC3C-16AE-46DE-B261-5CE0D658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62125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人工推车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4555C4-E87F-4711-BCBD-5FA96702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62125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保留为基线；需要现场人工时长和成本才能比较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25A0E7-44B8-4167-A3EE-CCE344C9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74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14FE9-F28A-4128-B7BA-021B9FC6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全程固定输送线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04DA14-8731-410A-8001-95C36B350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622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适合稳定路线；本课题设定共用通道，连续铺线可能受限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EC59E6-95F7-4449-BB3D-1F332A85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F9F872-2F31-426B-8F94-C4C04148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62375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AMR + 短输送线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EFBA0-405D-41D5-ACF3-AFB19730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62375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适合布局可变且允许通行的场景；需验证安全与接驳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250AFE-6E71-4934-9F56-A57A3FFB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45E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A45E18"/>
                </a:solidFill>
                <a:latin typeface="Microsoft YaHei"/>
                <a:ea typeface="Microsoft YaHei"/>
                <a:cs typeface="Microsoft YaHei"/>
              </a:rPr>
              <a:t>结论：先做 AMR 方案测算；采购决定仍取决于现场布局、成本和安全评估。</a:t>
            </a:r>
          </a:p>
        </p:txBody>
      </p:sp>
    </p:spTree>
    <p:extLst>
      <p:ext uri="{BB962C8B-B14F-4D97-AF65-F5344CB8AC3E}">
        <p14:creationId xmlns:p14="http://schemas.microsoft.com/office/powerpoint/2010/main" val="6268846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82EB15-72C6-4FFD-8224-CE0750A47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9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69"/>
          </a:solidFill>
          <a:ln xmlns:a="http://schemas.openxmlformats.org/drawingml/2006/main" w="9525">
            <a:solidFill>
              <a:srgbClr val="176B6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E49BF2-B2EE-4E3A-83B1-65FA1601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容量测算：基准为 4 台配置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C2BFE-3636-4716-81DA-C5865A70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14425"/>
            <a:ext cx="1095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319FE-F2FD-4222-A2E1-DA86064D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771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个人方案设计案例 | 数值均为课题设计输入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FF786-62C8-4C21-8858-3453BB4C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4DC00-9516-4410-BD95-3368BDBA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33337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9FE5C-696D-4C57-9EC5-ABBBE536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8478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单次占用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81CD6B-8D5F-427E-BEB1-39CA24C9B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09800"/>
            <a:ext cx="299085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往返 160 s + A 点 40 s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+ B 点 40 s + 余量 60 s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= 300 s / 任务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6A1ABC-3747-4963-85BA-567CBBA6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14500"/>
            <a:ext cx="33337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BEFB02-88CB-43B9-8E43-54E793F9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8478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单车规划能力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8E07C-686C-498B-A0C4-4A148560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209800"/>
            <a:ext cx="299085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60 min ÷ 5 min = 12 箱/小时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12 × 70% 可用系数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= 8.4 箱/小时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4CC331-49FC-491D-86FD-4E7B2E75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714500"/>
            <a:ext cx="333375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3B5DC8-8147-4B73-82E4-ACFB32AA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18478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车辆配置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FDF78E-BCA4-4C9A-9FD9-28C948AD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209800"/>
            <a:ext cx="299085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ceil(18 ÷ 8.4) = 3 台在线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+ 1 台退出备用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= 4 台方案配置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5F6C74-BAEB-46EA-8EB6-C70CD38E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9102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敏感性：需求提高到 26 箱/小时，在线车数变为 4 台，含备用共 5 台。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9B13A5-701F-4854-9816-25CCF2AD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容量还受 B 点接箱节拍和交叉口拥堵限制；未经现场试运行验证。</a:t>
            </a:r>
          </a:p>
        </p:txBody>
      </p:sp>
    </p:spTree>
    <p:extLst>
      <p:ext uri="{BB962C8B-B14F-4D97-AF65-F5344CB8AC3E}">
        <p14:creationId xmlns:p14="http://schemas.microsoft.com/office/powerpoint/2010/main" val="125421960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A15D53-2297-410B-BFD1-DE8077EA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9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69"/>
          </a:solidFill>
          <a:ln xmlns:a="http://schemas.openxmlformats.org/drawingml/2006/main" w="9525">
            <a:solidFill>
              <a:srgbClr val="176B6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5BE3E-73D3-4F65-BF88-DA10CB33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系统边界与 B 点交接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2A9B7-6770-4DED-B274-977EB59E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14425"/>
            <a:ext cx="1095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DBF680-FDE2-49C2-AC77-83D8358E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771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个人方案设计案例 | 数值均为课题设计输入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C779A-6942-411B-B1B1-D191B868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06674B-8BFD-43FA-9E9A-6F02F54C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18859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C60D7B-ACC0-4FAC-AE92-DAEBF0E6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66900"/>
            <a:ext cx="1695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WMS</a:t>
            </a:r>
          </a:p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补货需求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1F9A9-C7BA-44DF-859B-D6CEBDF3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24025"/>
            <a:ext cx="18859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CCBDEB-5335-4BE5-8BF7-100FC114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866900"/>
            <a:ext cx="1695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WCS</a:t>
            </a:r>
          </a:p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任务/状态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6A8CF4-370D-4CEC-9D86-0C1F4538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724025"/>
            <a:ext cx="18859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CC2743-10A2-4346-A288-6A29CC1C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866900"/>
            <a:ext cx="1695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RCS</a:t>
            </a:r>
          </a:p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派车/路径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F04B2D-649E-4DAF-9A56-1EF22EE7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24025"/>
            <a:ext cx="18859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E6523A-8EB7-4364-9BBC-59B12195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66900"/>
            <a:ext cx="1695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AMR</a:t>
            </a:r>
          </a:p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到位/交箱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B3B63-6507-431D-A120-94B245AF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24025"/>
            <a:ext cx="160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112EF-5E6C-4984-9D6F-DB1069026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8669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PLC</a:t>
            </a:r>
          </a:p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输送线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5FFB01-6012-418A-898A-FE5CEA26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71675"/>
            <a:ext cx="33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6234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ADB801-8AF6-470F-AFC7-229EF97A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71675"/>
            <a:ext cx="33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6234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3A2542-DEB9-4F23-841C-0042AAB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71675"/>
            <a:ext cx="33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56234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AF01FE-9456-4973-B576-2C5876A6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81325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PLC 与 AMR 的状态通过 WCS 协调；具体物理接口由设备供应商确定。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041F65-FB96-4F57-8A57-78832B94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76675"/>
            <a:ext cx="49530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36FDEF-283E-47AB-871C-FA5041A8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10025"/>
            <a:ext cx="461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交接前必须满足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4AFF0B-60D3-4774-B6E4-65E321A4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71975"/>
            <a:ext cx="46101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AMR 到位且定位完成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B 点空闲、输送线可接箱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扫码 ID 与任务 ID 匹配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34A565-1D82-4F4D-8058-D04BC5CD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76675"/>
            <a:ext cx="49530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830850-856C-4DB6-B767-4491BF24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010025"/>
            <a:ext cx="461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交接完成才回写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06F791-E02F-4212-BF63-6BE552A4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71975"/>
            <a:ext cx="46101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PLC 确认 B 点接箱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AMR 确认载具已空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WCS 用任务 ID 向 WMS 回写</a:t>
            </a:r>
          </a:p>
        </p:txBody>
      </p:sp>
    </p:spTree>
    <p:extLst>
      <p:ext uri="{BB962C8B-B14F-4D97-AF65-F5344CB8AC3E}">
        <p14:creationId xmlns:p14="http://schemas.microsoft.com/office/powerpoint/2010/main" val="16911191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A69456-2275-41BF-A08E-5EC1A34A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9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69"/>
          </a:solidFill>
          <a:ln xmlns:a="http://schemas.openxmlformats.org/drawingml/2006/main" w="9525">
            <a:solidFill>
              <a:srgbClr val="176B6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DC9187-B3EC-44B3-BBFE-5A478570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异常处理：先阻断，后对账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E69CDF-CFBC-4883-B205-C96E5D57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14425"/>
            <a:ext cx="1095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9A15D0-FA99-4495-944C-5DE151EC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771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个人方案设计案例 | 数值均为课题设计输入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501DE2-753E-48CA-8A06-8CA35F2C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B4E42A-0856-4646-98D5-420339E2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5D1DD-1DD6-4B9D-B185-E4F18CA1F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62125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B 点未就绪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41720-65B7-4EBA-B742-D75622EA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62125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不发交接许可；AMR 在安全等待位等待，超时转人工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8EADE-9B9A-4FBE-AEC2-435CFF39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574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78B1ED-D03C-40F3-8269-C3F92032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扫码不一致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B3B980-CCEB-4359-9BB2-872E0D27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622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阻断交接和完成回写；人员核对料箱、任务与库存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82127-9650-40DF-94A7-941A9EDF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8C76DE-6802-4983-B05C-04CEE097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62375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状态丢失/断网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BCE534-F186-4B6E-94A1-8C68D199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62375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停止新动作；恢复后按任务 ID 对账再决定重试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DF42AF-6120-4202-ABD9-B8F8D151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1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45E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A45E18"/>
                </a:solidFill>
                <a:latin typeface="Microsoft YaHei"/>
                <a:ea typeface="Microsoft YaHei"/>
                <a:cs typeface="Microsoft YaHei"/>
              </a:rPr>
              <a:t>注意：安全停机和人员防护要按设备安全设计实现，不能只靠上层消息。</a:t>
            </a:r>
          </a:p>
        </p:txBody>
      </p:sp>
    </p:spTree>
    <p:extLst>
      <p:ext uri="{BB962C8B-B14F-4D97-AF65-F5344CB8AC3E}">
        <p14:creationId xmlns:p14="http://schemas.microsoft.com/office/powerpoint/2010/main" val="14834452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D75DF9-B8D5-46FD-BCD1-E1AE1C64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9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69"/>
          </a:solidFill>
          <a:ln xmlns:a="http://schemas.openxmlformats.org/drawingml/2006/main" w="9525">
            <a:solidFill>
              <a:srgbClr val="176B6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F368D-AC0F-4721-9419-E386DEF4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验证计划与项目边界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0D6E6A-40F1-4F83-A334-37A441FB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14425"/>
            <a:ext cx="1095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DDA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4930C-28E6-490D-947B-C875A35F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29375"/>
            <a:ext cx="771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个人方案设计案例 | 数值均为课题设计输入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E799F7-1B32-4591-959A-B86C47A1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0B741-E690-448A-9A10-F6F5E252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49530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C31C99-8DB9-475B-8F53-0F76A45F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47850"/>
            <a:ext cx="461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拟执行的测试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98AC4-3ABC-4318-B7E3-6315564C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461010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正常交接 / 输送线占位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错误料箱 / 回写超时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18 箱/小时连续 2 小时峰值试验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169B31-CC77-4BF1-93F7-8BA2B976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14500"/>
            <a:ext cx="49530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7F5"/>
          </a:solidFill>
          <a:ln xmlns:a="http://schemas.openxmlformats.org/drawingml/2006/main" w="9525">
            <a:solidFill>
              <a:srgbClr val="CFDD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5CFFE-7148-4E3D-9E2D-6E12EB75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847850"/>
            <a:ext cx="461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016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6B69"/>
                </a:solidFill>
                <a:latin typeface="Microsoft YaHei"/>
                <a:ea typeface="Microsoft YaHei"/>
                <a:cs typeface="Microsoft YaHei"/>
              </a:rPr>
              <a:t>记录与判定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998A9-57CD-4620-B803-CD20CD02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09800"/>
            <a:ext cx="461010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任务 ID 与状态时间戳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扫码、PLC、车队日志</a:t>
            </a:r>
          </a:p>
          <a:p xmlns:a="http://schemas.openxmlformats.org/drawingml/2006/main">
            <a:pPr>
              <a:def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7282F"/>
                </a:solidFill>
                <a:latin typeface="Microsoft YaHei"/>
                <a:ea typeface="Microsoft YaHei"/>
                <a:cs typeface="Microsoft YaHei"/>
              </a:rPr>
              <a:t>完成量、排队、异常恢复时间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3C54CE-1717-44E1-98A8-03D57DA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4342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A45E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A45E18"/>
                </a:solidFill>
                <a:latin typeface="Microsoft YaHei"/>
                <a:ea typeface="Microsoft YaHei"/>
                <a:cs typeface="Microsoft YaHei"/>
              </a:rPr>
              <a:t>尚未取得现场数据，也未开发系统、编写 PLC 程序或完成设备联调。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8F32CC-025C-4D63-9ABE-064EAAAA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0067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1636A"/>
                </a:solidFill>
                <a:latin typeface="Microsoft YaHei"/>
                <a:ea typeface="Microsoft YaHei"/>
                <a:cs typeface="Microsoft YaHei"/>
              </a:rPr>
              <a:t>工程下一步：现场测量 → 供应商参数 → 安全评审 → 接口联调 → 峰值试运行</a:t>
            </a:r>
          </a:p>
        </p:txBody>
      </p:sp>
    </p:spTree>
    <p:extLst>
      <p:ext uri="{BB962C8B-B14F-4D97-AF65-F5344CB8AC3E}">
        <p14:creationId xmlns:p14="http://schemas.microsoft.com/office/powerpoint/2010/main" val="9856893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2026-09-24T00:12:55.7020000Z</dcterms:created>
  <dcterms:modified xsi:type="dcterms:W3CDTF">2026-09-24T00:12:55.7020000Z</dcterms:modified>
</coreProperties>
</file>