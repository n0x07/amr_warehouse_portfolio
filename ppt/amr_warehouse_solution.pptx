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b892a9f824848" /><Relationship Type="http://schemas.openxmlformats.org/officeDocument/2006/relationships/extended-properties" Target="/docProps/app.xml" Id="R46e17be0225b4b46" /><Relationship Type="http://schemas.openxmlformats.org/officeDocument/2006/relationships/officeDocument" Target="/ppt/presentation.xml" Id="R72db8a7a0f5142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f7216323434bf3"/>
  </p:sldMasterIdLst>
  <p:notesMasterIdLst>
    <p:notesMasterId xmlns:r="http://schemas.openxmlformats.org/officeDocument/2006/relationships" r:id="R157c7ddb99534fa9"/>
  </p:notesMasterIdLst>
  <p:sldIdLst>
    <p:sldId xmlns:r="http://schemas.openxmlformats.org/officeDocument/2006/relationships" id="256" r:id="R7d4d5cdb8dec4297"/>
    <p:sldId xmlns:r="http://schemas.openxmlformats.org/officeDocument/2006/relationships" id="257" r:id="Rd926caf8311c4a7a"/>
    <p:sldId xmlns:r="http://schemas.openxmlformats.org/officeDocument/2006/relationships" id="258" r:id="R3af6e1b34ad846d3"/>
    <p:sldId xmlns:r="http://schemas.openxmlformats.org/officeDocument/2006/relationships" id="259" r:id="R76f2fc1b1549461a"/>
    <p:sldId xmlns:r="http://schemas.openxmlformats.org/officeDocument/2006/relationships" id="260" r:id="Rc8c07c41de914c6d"/>
    <p:sldId xmlns:r="http://schemas.openxmlformats.org/officeDocument/2006/relationships" id="261" r:id="R59c59afc1de24eb5"/>
    <p:sldId xmlns:r="http://schemas.openxmlformats.org/officeDocument/2006/relationships" id="262" r:id="R93dbf0c9d05b4834"/>
    <p:sldId xmlns:r="http://schemas.openxmlformats.org/officeDocument/2006/relationships" id="263" r:id="R7eeace61eddf45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5b8ef869ee427f" /><Relationship Type="http://schemas.openxmlformats.org/officeDocument/2006/relationships/slideMaster" Target="/ppt/slideMasters/slideMaster1.xml" Id="R01f7216323434bf3" /><Relationship Type="http://schemas.openxmlformats.org/officeDocument/2006/relationships/notesMaster" Target="/ppt/notesMasters/notesMaster1.xml" Id="R157c7ddb99534fa9" /><Relationship Type="http://schemas.openxmlformats.org/officeDocument/2006/relationships/presProps" Target="/ppt/presProps.xml" Id="Ra3b8ed2d672a4f3d" /><Relationship Type="http://schemas.openxmlformats.org/officeDocument/2006/relationships/tableStyles" Target="/ppt/tableStyles.xml" Id="R4c62badf8be04254" /><Relationship Type="http://schemas.openxmlformats.org/officeDocument/2006/relationships/slide" Target="/ppt/slides/slide1.xml" Id="R7d4d5cdb8dec4297" /><Relationship Type="http://schemas.openxmlformats.org/officeDocument/2006/relationships/slide" Target="/ppt/slides/slide2.xml" Id="Rd926caf8311c4a7a" /><Relationship Type="http://schemas.openxmlformats.org/officeDocument/2006/relationships/slide" Target="/ppt/slides/slide3.xml" Id="R3af6e1b34ad846d3" /><Relationship Type="http://schemas.openxmlformats.org/officeDocument/2006/relationships/slide" Target="/ppt/slides/slide4.xml" Id="R76f2fc1b1549461a" /><Relationship Type="http://schemas.openxmlformats.org/officeDocument/2006/relationships/slide" Target="/ppt/slides/slide5.xml" Id="Rc8c07c41de914c6d" /><Relationship Type="http://schemas.openxmlformats.org/officeDocument/2006/relationships/slide" Target="/ppt/slides/slide6.xml" Id="R59c59afc1de24eb5" /><Relationship Type="http://schemas.openxmlformats.org/officeDocument/2006/relationships/slide" Target="/ppt/slides/slide7.xml" Id="R93dbf0c9d05b4834" /><Relationship Type="http://schemas.openxmlformats.org/officeDocument/2006/relationships/slide" Target="/ppt/slides/slide8.xml" Id="R7eeace61eddf45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e787c8d20e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3e794327544e2e" /><Relationship Type="http://schemas.openxmlformats.org/officeDocument/2006/relationships/notesMaster" Target="/ppt/notesMasters/notesMaster1.xml" Id="R81b18292b10145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6a50d72874092" /><Relationship Type="http://schemas.openxmlformats.org/officeDocument/2006/relationships/notesMaster" Target="/ppt/notesMasters/notesMaster1.xml" Id="R7b0233b61d11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dad91270c74390" /><Relationship Type="http://schemas.openxmlformats.org/officeDocument/2006/relationships/notesMaster" Target="/ppt/notesMasters/notesMaster1.xml" Id="R75ae3669d0df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c0233439204b41" /><Relationship Type="http://schemas.openxmlformats.org/officeDocument/2006/relationships/notesMaster" Target="/ppt/notesMasters/notesMaster1.xml" Id="Re26f9bf98c7d49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e89cf8877c4f76" /><Relationship Type="http://schemas.openxmlformats.org/officeDocument/2006/relationships/notesMaster" Target="/ppt/notesMasters/notesMaster1.xml" Id="R627036484fb846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b925215bf64da9" /><Relationship Type="http://schemas.openxmlformats.org/officeDocument/2006/relationships/notesMaster" Target="/ppt/notesMasters/notesMaster1.xml" Id="Rb81819ab9acc4c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cc7d87a0e04df8" /><Relationship Type="http://schemas.openxmlformats.org/officeDocument/2006/relationships/notesMaster" Target="/ppt/notesMasters/notesMaster1.xml" Id="R428b3b014c71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0571835e344e0e" /><Relationship Type="http://schemas.openxmlformats.org/officeDocument/2006/relationships/notesMaster" Target="/ppt/notesMasters/notesMaster1.xml" Id="R134336a49db0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37f8a4f9544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d1c1cd5c741d5" /><Relationship Type="http://schemas.openxmlformats.org/officeDocument/2006/relationships/slideLayout" Target="/ppt/slideLayouts/slideLayout1.xml" Id="R67488c5ab7174b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488c5ab7174b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2f48a44f54b5f" /><Relationship Type="http://schemas.openxmlformats.org/officeDocument/2006/relationships/notesSlide" Target="/ppt/notesSlides/notesSlide1.xml" Id="R4e1316f9548249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a49f6a714a73" /><Relationship Type="http://schemas.openxmlformats.org/officeDocument/2006/relationships/notesSlide" Target="/ppt/notesSlides/notesSlide2.xml" Id="Re554ce80856a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61bb7a6454e44" /><Relationship Type="http://schemas.openxmlformats.org/officeDocument/2006/relationships/notesSlide" Target="/ppt/notesSlides/notesSlide3.xml" Id="Rb3f855331014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7cf445da949eb" /><Relationship Type="http://schemas.openxmlformats.org/officeDocument/2006/relationships/notesSlide" Target="/ppt/notesSlides/notesSlide4.xml" Id="R8a7622c17baf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5bac29a374472" /><Relationship Type="http://schemas.openxmlformats.org/officeDocument/2006/relationships/notesSlide" Target="/ppt/notesSlides/notesSlide5.xml" Id="Rde8699489a7849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519ae53864744" /><Relationship Type="http://schemas.openxmlformats.org/officeDocument/2006/relationships/notesSlide" Target="/ppt/notesSlides/notesSlide6.xml" Id="R08ae9034068b4d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5e0933ebe4d8c" /><Relationship Type="http://schemas.openxmlformats.org/officeDocument/2006/relationships/notesSlide" Target="/ppt/notesSlides/notesSlide7.xml" Id="Rfb8f86ac392144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5b952038b45ed" /><Relationship Type="http://schemas.openxmlformats.org/officeDocument/2006/relationships/notesSlide" Target="/ppt/notesSlides/notesSlide8.xml" Id="Raaa4bcb46e3e49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674DE-9D3D-4B0A-B50D-1EC38BDC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仓储 AMR</a:t>
            </a:r>
          </a:p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搬运/分拣自动化方案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08B95-E11C-4457-92C7-9FAEE12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AMR + WMS/WCS + RCS 调度 + PLC/现场 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F3DF9-A0E3-4AF4-AD13-9386041F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676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用于展示仓储自动化场景理解、系统协同、设备组成、风险控制与验收口径。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26622-CED1-401B-88DB-B34A0744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144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AA956-D77D-447B-A76D-1AC2A61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&gt;= 98%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D85D6-C3FD-4330-A0C3-5E554482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任务成功率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23AF5-2C17-4EC9-8E3C-17D75728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378BE-9D6D-4972-ACFE-C469635D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&gt;= 99%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631F-C396-4520-8E53-9BD5CAA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设备在线率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0AF70-767B-4B9D-B8C0-50F5BB2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814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6E74-8520-475F-A48B-23245FAF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&lt;= 10 分钟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8A473-5ED2-477D-BE97-555BC5E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异常处理时长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F056F-589A-4403-A72C-21F5C3A0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F71D1-D1EE-44FB-93FA-B3C0AB51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76786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DDF29-5C79-40B0-91E8-8604324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01 / 业务场景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A1BC0-C438-4A1F-98E3-E871DCBC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仓库痛点集中在搬运、错拣和扩容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CD9F7-9D9E-40F8-9C21-0D53134D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715AF-D2E4-44C4-A426-F2F355BC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入库、上架、拣选、复核、出库之间存在重复搬运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C0464-E485-4370-83A5-553068F2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人工长距离行走导致周转时间不稳定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7EFC7-4F17-47E9-A373-6667AC57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SKU、货位、订单未校验时容易错拣或漏拣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04D63-45CC-4CAC-81B4-0C0238A9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旺季订单增长时，人力和通道容易成为瓶颈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70185-B1D0-403F-B496-FD35DC1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1D406-1188-4FAD-8083-E33A4783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2288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86F"/>
                </a:solidFill>
              </a:defRPr>
            </a:pPr>
            <a:r>
              <a:rPr sz="1875" b="1">
                <a:solidFill>
                  <a:srgbClr val="00786F"/>
                </a:solidFill>
              </a:rPr>
              <a:t>目标</a:t>
            </a:r>
          </a:p>
          <a:p xmlns:a="http://schemas.openxmlformats.org/drawingml/2006/main">
            <a:pPr>
              <a:defRPr sz="1875" b="1">
                <a:solidFill>
                  <a:srgbClr val="00786F"/>
                </a:solidFill>
              </a:defRPr>
            </a:pPr>
            <a:r>
              <a:rPr sz="1875" b="1">
                <a:solidFill>
                  <a:srgbClr val="00786F"/>
                </a:solidFill>
              </a:rPr>
              <a:t>降搬运人工</a:t>
            </a:r>
          </a:p>
          <a:p xmlns:a="http://schemas.openxmlformats.org/drawingml/2006/main">
            <a:pPr>
              <a:defRPr sz="1875" b="1">
                <a:solidFill>
                  <a:srgbClr val="00786F"/>
                </a:solidFill>
              </a:defRPr>
            </a:pPr>
            <a:r>
              <a:rPr sz="1875" b="1">
                <a:solidFill>
                  <a:srgbClr val="00786F"/>
                </a:solidFill>
              </a:rPr>
              <a:t>提周转效率</a:t>
            </a:r>
          </a:p>
          <a:p xmlns:a="http://schemas.openxmlformats.org/drawingml/2006/main">
            <a:pPr>
              <a:defRPr sz="1875" b="1">
                <a:solidFill>
                  <a:srgbClr val="00786F"/>
                </a:solidFill>
              </a:defRPr>
            </a:pPr>
            <a:r>
              <a:rPr sz="1875" b="1">
                <a:solidFill>
                  <a:srgbClr val="00786F"/>
                </a:solidFill>
              </a:rPr>
              <a:t>降错拣风险</a:t>
            </a:r>
          </a:p>
          <a:p xmlns:a="http://schemas.openxmlformats.org/drawingml/2006/main">
            <a:pPr>
              <a:defRPr sz="1875" b="1">
                <a:solidFill>
                  <a:srgbClr val="00786F"/>
                </a:solidFill>
              </a:defRPr>
            </a:pPr>
            <a:r>
              <a:rPr sz="1875" b="1">
                <a:solidFill>
                  <a:srgbClr val="00786F"/>
                </a:solidFill>
              </a:rPr>
              <a:t>支持扩展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E79AF-C9D7-49DF-92E7-CE37240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98273-5E3A-40B4-803A-C955C90D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3789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AB3A0-CBE7-4889-BA06-5CD9EFA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02 / 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7DBD1-F67F-41A9-8598-9B21FE1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方案由业务、调度、设备和运维四层组成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92F5-93B6-4478-92C3-28E49F0F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DA39F-C801-4F8B-BD64-CE9A984A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305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AD7C4-0CF0-4AE1-A7E1-D5DA8D3C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62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业务系统层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ERP / OMS / WMS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订单、库存、货位、波次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D8305-0276-4BB8-A92E-D1B691E6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05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B0DB7-1685-4358-827A-AAC213F7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1962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控制调度层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WCS / RCS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任务拆解、路径调度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07B39-718B-4E0F-B0BB-A7A1A90B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305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37080-723E-4FD3-AFC7-41BE385C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1962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执行设备层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AMR / 输送线 / PLC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搬运、拣选、现场 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40DAE-B8EB-4584-BF01-FEA1286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305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7F572-A5E5-4EE5-883D-BD8453EB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52650"/>
            <a:ext cx="19621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数据运维层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监控 / 日志 / 异常工单</a:t>
            </a:r>
          </a:p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在线率、成功率、处理时长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7A04D-0734-4B14-AA43-73F99897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4EAE5-AE89-4E52-A438-87F40614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CBB47-4060-4C5C-8209-AEECC38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05C57-254D-4D48-A6F2-4624FE40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86F"/>
                </a:solidFill>
              </a:defRPr>
            </a:pPr>
            <a:r>
              <a:rPr sz="1950" b="1">
                <a:solidFill>
                  <a:srgbClr val="00786F"/>
                </a:solidFill>
              </a:rPr>
              <a:t>WMS 管业务，WCS 管协同，RCS 管 AMR 调度，PLC 管固定设备控制。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897EE-8594-4BEE-877F-A3A48E72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6FCC2-A9AE-4DA9-9B64-FB29BA00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09221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E0FEB-2126-4154-9CED-3D791AB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03 / 标准流程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48C23-D10A-4109-AD98-B6E59DF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订单下发后形成任务、搬运、复核、出库闭环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9A2A4-4442-4E37-B14F-A682AB55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19457-8A3B-4E01-9F9E-FE4427A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E5BD4-05E3-4936-85EF-5245A69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订单下发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3E8E9-1869-4DDD-803C-93CDFCA8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81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3612C-BE8D-4134-9705-CEC2C505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070DD-B9A3-402C-9A47-F7FD5EB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3365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任务分配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FEF01-5B37-4C41-A450-37B408E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81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5290A-76CA-40EB-A1AB-709F782B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B8218-D17D-42F8-8C63-4EE61C07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AMR 搬运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F4084-5EF6-41B6-AC5E-B75167EC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4A8BA-4313-427F-913A-D77AEC3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1D18A-D5F2-493E-8CEA-990A1E4B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人工/机械臂拣选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1E48E-46B1-4BA6-9682-C7C0332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0577F-5B84-49F7-A9DA-76597DEF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AAABA-E6B4-4C40-A4E6-6B19B90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扫码复核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13919-0E78-4929-94B2-F2273A40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DC698-BA5D-41A6-93AD-FC9D4A24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B9F9B-1CB4-4302-BE13-4467890B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108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出库交接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5B73C-129F-4328-8A9C-0C943D20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WMS 生成拣选/搬运任务，WCS 拆成设备动作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A69B8-A12F-468E-B58B-23CDC91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RCS 按车辆位置、电量和路径负载分配 AMR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57CBD5-A71D-4D2D-BB9D-2B5D9F47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958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• PDA/扫码枪校验 SKU、数量、订单和周转箱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22E98C-2BE5-494D-A684-C8C73D61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ACBB2-C104-4352-B1A8-42425CB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52530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FE3AC-CB16-4EEF-B988-847E075E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04 / 软件与设备分工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6F58B-2B61-448F-9F9F-83A73B5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RCS 管车，PLC 管线，WCS 负责协调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B6CEC-B57B-473C-96F3-F1CE7002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F4BCD-C38E-4FE9-8901-7AC5EB72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5523F-64D2-42AA-AA2B-838F109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7051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RCS</a:t>
            </a:r>
          </a:p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派车、路径规划、交通管制、充电调度、AMR 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FF36E-1168-43EC-A313-19D589D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35927-CC6B-4709-AB3B-1EFB8502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27051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86F"/>
                </a:solidFill>
              </a:defRPr>
            </a:pPr>
            <a:r>
              <a:rPr sz="1650" b="1">
                <a:solidFill>
                  <a:srgbClr val="00786F"/>
                </a:solidFill>
              </a:rPr>
              <a:t>WCS</a:t>
            </a:r>
          </a:p>
          <a:p xmlns:a="http://schemas.openxmlformats.org/drawingml/2006/main">
            <a:pPr>
              <a:defRPr sz="1650" b="1">
                <a:solidFill>
                  <a:srgbClr val="00786F"/>
                </a:solidFill>
              </a:defRPr>
            </a:pPr>
            <a:r>
              <a:rPr sz="1650" b="1">
                <a:solidFill>
                  <a:srgbClr val="00786F"/>
                </a:solidFill>
              </a:rPr>
              <a:t>承接 WMS 任务，协调 AMR、PLC、扫码与工位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51760-D9D8-4DEA-8634-DC64ED62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B6758-3D8E-4FFC-8A82-BBEEF84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7051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PLC</a:t>
            </a:r>
          </a:p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输送线、提升机、挡停器、光电传感器、急停、安全光栅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5938B-56EC-42C0-A82E-AD70BBAB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146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9C2C7-9095-4E0E-96D7-E0287464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C"/>
          </a:solidFill>
          <a:ln xmlns:a="http://schemas.openxmlformats.org/drawingml/2006/main" w="0">
            <a:solidFill>
              <a:srgbClr val="4555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501DB-1FCF-4390-8421-C9D59551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AMR 到站后，WCS 根据状态通知 PLC 放行输送线或挡停器，PLC 再回传到位、故障、急停等信号。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7F332-C0FB-4A46-9946-B67536D7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78D39-9A53-4DBA-8E07-23CF71C3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83225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B6A07-F6D2-4E8A-9B6F-31AE5E10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05 / 设备组成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36AF8-6CFC-4C15-942B-3D13E210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设备清单覆盖搬运、复核、控制和网络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680B6-1F65-43F2-9CD2-49433C3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DB885-7A3A-44D2-8577-9AC2B6E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AMR 小车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6433F-7397-4DA4-82B8-66EFF466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库区搬运、补货、出库集货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0E67C-766E-47E9-8298-1403FAC1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856C6-C7CC-48C7-BD3D-CD50EBDC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自动充电桩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566C1-687D-4022-9155-150BC077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低电量自动回充、错峰充电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06CBD-85FC-4694-B135-B7061567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6E109-CD4B-4385-A5FB-B6EDF179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货架/料箱/托盘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5362D-DEF4-4748-A3DA-C4C4984A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承载库存并绑定货位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C5F3C-3DCA-49CC-9D20-4C8F09D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EF79D-BFB8-4B86-8585-45B6E547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扫码枪/PDA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9E98A-E38D-4A2B-8B0D-67DCC995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拣选校验、复核、异常上报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7C3EB-0AA8-4D64-90B3-AD3EDED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BCD41-973E-4960-B979-5B91057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PLC/工控机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AEE8A-702D-4BD7-83FA-4B40BE2B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现场 IO 控制、接口网关、日志服务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A37BB-5B7B-47D5-97A8-C675B76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1B386-4020-4842-BDA4-AE012B19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网络设备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6C2CD-D766-4465-B556-2D23DB25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Wi-Fi 6、交换机、VLAN、覆盖测试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A75A1-0DD8-45EB-8CA7-3A55C6A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BFDB4-9C58-46BC-8057-F8BA7E9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3ABAD-FC9B-4DAC-BCC0-339ABDEF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92041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C2DFB-84F1-46BD-9853-3A8B3F1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06 / 风险与应对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AB94B-624A-4FF8-882A-F2CDB5F2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风险控制要围绕现场节拍和状态闭环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2C826-955D-4905-B624-625FC6A3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3BC82-905D-4E54-A51F-5830DDBE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路径拥堵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BFA3F-31E0-472F-804C-1DFE200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主通道、缓冲区、交通管制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5A233-9BAD-4867-A7E4-DEBC1CF5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B7478-F720-44C4-93E8-E772881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网络中断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769C4-A9FB-4DBA-9468-26AB3E5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AP 冗余、漫游测试、恢复对账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B8C8B-1461-4FBD-88E6-17B2F617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E343A-338E-464F-A47C-ABBF3907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充电调度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9844E-90D0-4D24-9898-3ADDAA8F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低电量阈值、错峰充电、安全车数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9A5F8-4223-4E5B-99B4-0D9332E8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1CFD7-BE81-4C34-B3F0-4C3EE68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异常订单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3015D-1CFD-42FA-A412-A43B0AE0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异常工单、人工复核、补拣流程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E1F12-8E24-4BF6-91C8-C215A7D0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FF223-BC15-49D2-809C-ED09E94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人工协同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31EBE-C212-4650-A527-5B21413F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地标标识、权限控制、关键节点扫码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B0B83-C4BD-4530-B644-E8D8F393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D73198-8E45-4BD2-B587-85E02774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99F2D-B098-4B13-992E-517FF7B3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16610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03AA8-F7C3-41F0-92D7-A88BD049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07 / 验收指标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CAD9-F589-435B-B03D-96BA2F1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验收用数据确认方案是否真正跑通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D9CDB-654E-4D09-A279-48970C7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C820F-41FD-4A8E-98E1-D83785BE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BB8D1-9452-49E8-B467-E2D78C8D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&gt;= 98%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6986A-61EA-4D10-B448-2C27DAD8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任务成功率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A3998-84DB-4A8E-BACE-BBC765C4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22811-8FAF-4629-985F-DBE450F1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20%-35%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EF6E5-7B80-4451-9D0D-257453E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平均搬运时长优化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1F8B0-5A42-49B3-B398-A2839082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6E1DE-66DC-493A-A3E1-2592E31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&gt;= 99%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BB8B9-7844-4390-962B-6A92384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设备在线率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3D235-CFF7-4B38-BAA2-604BDFBB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00BED-E79B-4CAD-A6BE-B9C4C354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86F"/>
                </a:solidFill>
              </a:defRPr>
            </a:pPr>
            <a:r>
              <a:rPr sz="2250" b="1">
                <a:solidFill>
                  <a:srgbClr val="00786F"/>
                </a:solidFill>
              </a:rPr>
              <a:t>&lt;= 10 分钟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C6AD0-14D9-4827-A654-97F7EB9C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9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异常处理时长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AF964-CBF3-4EE7-88DF-CD8651CF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979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验收阶段应覆盖入库、拣选、补货、出库任务，并包含高峰波次、低电量充电、异常订单和人工协同场景。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1D5F1-AE7F-4994-8AB4-37DB6630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仓储 AMR 搬运/分拣自动化方案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F6810-26BE-4A8A-AB5E-C0F30F3A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7519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2026-08-31T09:46:32.7220000Z</dcterms:created>
  <dcterms:modified xsi:type="dcterms:W3CDTF">2026-08-31T09:46:32.7220000Z</dcterms:modified>
</coreProperties>
</file>